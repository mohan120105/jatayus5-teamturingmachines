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0459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8163" y="1629631"/>
            <a:ext cx="746760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dirty="0">
                <a:solidFill>
                  <a:srgbClr val="2B7FFF"/>
                </a:solidFill>
                <a:highlight>
                  <a:srgbClr val="2B7FFF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Python 3.10+Neo4j</a:t>
            </a:r>
            <a:r>
              <a:rPr lang="en-US" sz="900" dirty="0">
                <a:solidFill>
                  <a:srgbClr val="7C5CFF"/>
                </a:solidFill>
                <a:highlight>
                  <a:srgbClr val="7C5CFF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Groq Llama-3.3-70bGemini Vision</a:t>
            </a:r>
            <a:r>
              <a:rPr lang="en-US" sz="900" dirty="0">
                <a:solidFill>
                  <a:srgbClr val="2B7FFF"/>
                </a:solidFill>
                <a:highlight>
                  <a:srgbClr val="2B7FFF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FastAPIStreamlit</a:t>
            </a:r>
            <a:r>
              <a:rPr lang="en-US" sz="900" dirty="0">
                <a:solidFill>
                  <a:srgbClr val="7C5CFF"/>
                </a:solidFill>
                <a:highlight>
                  <a:srgbClr val="7C5CFF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HuggingFace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1821619" y="2032025"/>
            <a:ext cx="5500688" cy="704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44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Sentinel GraphRAG</a:t>
            </a:r>
            <a:endParaRPr lang="en-US" sz="5000" dirty="0"/>
          </a:p>
        </p:txBody>
      </p:sp>
      <p:sp>
        <p:nvSpPr>
          <p:cNvPr id="6" name="Text 2"/>
          <p:cNvSpPr/>
          <p:nvPr/>
        </p:nvSpPr>
        <p:spPr>
          <a:xfrm>
            <a:off x="1902619" y="2840162"/>
            <a:ext cx="5338762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76"/>
              </a:lnSpc>
              <a:spcBef>
                <a:spcPts val="810"/>
              </a:spcBef>
              <a:buNone/>
            </a:pPr>
            <a:r>
              <a:rPr lang="en-US" sz="1500" dirty="0">
                <a:solidFill>
                  <a:srgbClr val="2B7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Enterprise Conversational AI for Banking Compliance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2447888" y="3295464"/>
            <a:ext cx="4248150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28"/>
              </a:lnSpc>
              <a:spcBef>
                <a:spcPts val="1215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Hallucination-resistant · Compliance-aware · Fully auditable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30755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00" b="1" dirty="0">
                <a:solidFill>
                  <a:srgbClr val="2B7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7688" y="550962"/>
            <a:ext cx="8048625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98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standard RAG fails in regulated banking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134" y="1073534"/>
            <a:ext cx="3910012" cy="1662113"/>
          </a:xfrm>
          <a:prstGeom prst="roundRect">
            <a:avLst>
              <a:gd name="adj" fmla="val 3027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0976" y="1304999"/>
            <a:ext cx="276225" cy="276225"/>
          </a:xfrm>
          <a:prstGeom prst="roundRect">
            <a:avLst>
              <a:gd name="adj" fmla="val 16438"/>
            </a:avLst>
          </a:prstGeom>
          <a:solidFill>
            <a:srgbClr val="2B7FFF">
              <a:alpha val="15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78" y="1374502"/>
            <a:ext cx="137145" cy="1371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8618" y="1319287"/>
            <a:ext cx="1347788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Policy versioning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1496" y="1658243"/>
            <a:ext cx="3443288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Vector stores retrieve both active and superseded policies, causing conflicting answers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85854" y="1073534"/>
            <a:ext cx="3910012" cy="1662113"/>
          </a:xfrm>
          <a:prstGeom prst="roundRect">
            <a:avLst>
              <a:gd name="adj" fmla="val 3027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18695" y="1304999"/>
            <a:ext cx="276225" cy="276225"/>
          </a:xfrm>
          <a:prstGeom prst="roundRect">
            <a:avLst>
              <a:gd name="adj" fmla="val 16438"/>
            </a:avLst>
          </a:prstGeom>
          <a:solidFill>
            <a:srgbClr val="7C5CFF">
              <a:alpha val="15000"/>
            </a:srgbClr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198" y="1374502"/>
            <a:ext cx="137145" cy="13714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85370" y="1319287"/>
            <a:ext cx="1266825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Numeric fidelity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919216" y="1658243"/>
            <a:ext cx="3443288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OCR pipelines flatten complex tables and lose critical thresholds like TDS rates and loan caps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134" y="2964210"/>
            <a:ext cx="3910012" cy="1871663"/>
          </a:xfrm>
          <a:prstGeom prst="roundRect">
            <a:avLst>
              <a:gd name="adj" fmla="val 2387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0976" y="3197572"/>
            <a:ext cx="276225" cy="276225"/>
          </a:xfrm>
          <a:prstGeom prst="roundRect">
            <a:avLst>
              <a:gd name="adj" fmla="val 16438"/>
            </a:avLst>
          </a:prstGeom>
          <a:solidFill>
            <a:srgbClr val="7C5CFF">
              <a:alpha val="15000"/>
            </a:srgbClr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78" y="3267075"/>
            <a:ext cx="137145" cy="13714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8135" y="3211860"/>
            <a:ext cx="1595437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Semantic ambiguity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81496" y="3548881"/>
            <a:ext cx="3443288" cy="619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"What documents are needed?" has no single answer without multi-hop context (customer type, policy version, access tier)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85854" y="2964210"/>
            <a:ext cx="3910012" cy="1871663"/>
          </a:xfrm>
          <a:prstGeom prst="roundRect">
            <a:avLst>
              <a:gd name="adj" fmla="val 2387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918695" y="3197572"/>
            <a:ext cx="276225" cy="276225"/>
          </a:xfrm>
          <a:prstGeom prst="roundRect">
            <a:avLst>
              <a:gd name="adj" fmla="val 16438"/>
            </a:avLst>
          </a:prstGeom>
          <a:solidFill>
            <a:srgbClr val="2B7FFF">
              <a:alpha val="15000"/>
            </a:srgbClr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8198" y="3267075"/>
            <a:ext cx="137145" cy="13714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85594" y="3211860"/>
            <a:ext cx="1890712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Compliance auditability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919216" y="3548881"/>
            <a:ext cx="3443288" cy="619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Analysts must trace every answer to a source policy with confidence scores, which standard RAG cannot provide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25613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00" b="1" dirty="0">
                <a:solidFill>
                  <a:srgbClr val="2B7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7688" y="499542"/>
            <a:ext cx="8048625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98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Three-layer governance-first retrieval engine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15330" y="1208968"/>
            <a:ext cx="409575" cy="409575"/>
          </a:xfrm>
          <a:prstGeom prst="ellipse">
            <a:avLst/>
          </a:prstGeom>
          <a:solidFill>
            <a:srgbClr val="2B7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0A0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09192" y="1047080"/>
            <a:ext cx="6719888" cy="733425"/>
          </a:xfrm>
          <a:prstGeom prst="roundRect">
            <a:avLst>
              <a:gd name="adj" fmla="val 12435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59210" y="1197732"/>
            <a:ext cx="6419850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spcAft>
                <a:spcPts val="162"/>
              </a:spcAft>
              <a:buNone/>
            </a:pPr>
            <a:r>
              <a:rPr lang="en-US" sz="1200" b="1" dirty="0">
                <a:solidFill>
                  <a:srgbClr val="2B7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59210" y="1452525"/>
            <a:ext cx="64198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PDF/Image → Gemini Vision → Pydantic validation → Neo4j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5330" y="2004678"/>
            <a:ext cx="409575" cy="409575"/>
          </a:xfrm>
          <a:prstGeom prst="ellipse">
            <a:avLst/>
          </a:prstGeom>
          <a:solidFill>
            <a:srgbClr val="7C5C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0A0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09192" y="1842790"/>
            <a:ext cx="6719888" cy="733425"/>
          </a:xfrm>
          <a:prstGeom prst="roundRect">
            <a:avLst>
              <a:gd name="adj" fmla="val 12435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59210" y="1993441"/>
            <a:ext cx="6419850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spcAft>
                <a:spcPts val="162"/>
              </a:spcAft>
              <a:buNone/>
            </a:pPr>
            <a:r>
              <a:rPr lang="en-US" sz="1200" b="1" dirty="0">
                <a:solidFill>
                  <a:srgbClr val="7C5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Graph synthesis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59210" y="2248235"/>
            <a:ext cx="64198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Policy nodes + Category, CustomerType, DocumentRequirement edges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5330" y="2800387"/>
            <a:ext cx="409575" cy="409575"/>
          </a:xfrm>
          <a:prstGeom prst="ellipse">
            <a:avLst/>
          </a:prstGeom>
          <a:solidFill>
            <a:srgbClr val="2B7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0A0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09192" y="2638499"/>
            <a:ext cx="6719888" cy="733425"/>
          </a:xfrm>
          <a:prstGeom prst="roundRect">
            <a:avLst>
              <a:gd name="adj" fmla="val 12435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59210" y="2789151"/>
            <a:ext cx="6419850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spcAft>
                <a:spcPts val="162"/>
              </a:spcAft>
              <a:buNone/>
            </a:pPr>
            <a:r>
              <a:rPr lang="en-US" sz="1200" b="1" dirty="0">
                <a:solidFill>
                  <a:srgbClr val="2B7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Query processing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59210" y="3043944"/>
            <a:ext cx="64198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 detection → Embedding → Hybrid retrieval → GLAC filter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5330" y="3596097"/>
            <a:ext cx="409575" cy="409575"/>
          </a:xfrm>
          <a:prstGeom prst="ellipse">
            <a:avLst/>
          </a:prstGeom>
          <a:solidFill>
            <a:srgbClr val="7C5C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0A0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09192" y="3434209"/>
            <a:ext cx="6719888" cy="733425"/>
          </a:xfrm>
          <a:prstGeom prst="roundRect">
            <a:avLst>
              <a:gd name="adj" fmla="val 12435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59210" y="3584860"/>
            <a:ext cx="6419850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spcAft>
                <a:spcPts val="162"/>
              </a:spcAft>
              <a:buNone/>
            </a:pPr>
            <a:r>
              <a:rPr lang="en-US" sz="1200" b="1" dirty="0">
                <a:solidFill>
                  <a:srgbClr val="7C5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Response synthesis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59210" y="3839654"/>
            <a:ext cx="64198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Groq Llama-3.3-70b → Tiered response → Multilingual 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5330" y="4391806"/>
            <a:ext cx="409575" cy="409575"/>
          </a:xfrm>
          <a:prstGeom prst="ellipse">
            <a:avLst/>
          </a:prstGeom>
          <a:solidFill>
            <a:srgbClr val="2B7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400" b="1" dirty="0">
                <a:solidFill>
                  <a:srgbClr val="0A0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509192" y="4229919"/>
            <a:ext cx="6719888" cy="733425"/>
          </a:xfrm>
          <a:prstGeom prst="roundRect">
            <a:avLst>
              <a:gd name="adj" fmla="val 12435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59210" y="4380570"/>
            <a:ext cx="6419850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spcAft>
                <a:spcPts val="162"/>
              </a:spcAft>
              <a:buNone/>
            </a:pPr>
            <a:r>
              <a:rPr lang="en-US" sz="1200" b="1" dirty="0">
                <a:solidFill>
                  <a:srgbClr val="2B7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59210" y="4635364"/>
            <a:ext cx="6419850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session persistence with citations, tier tags, and reasoning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25613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00" b="1" dirty="0">
                <a:solidFill>
                  <a:srgbClr val="2B7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7688" y="499542"/>
            <a:ext cx="8048625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98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Multimodal document ingestion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7688" y="918530"/>
            <a:ext cx="8048625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spcBef>
                <a:spcPts val="405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PDF, PNG, JPG, JPEG → structured policy nodes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7688" y="1239850"/>
            <a:ext cx="8048625" cy="1071563"/>
          </a:xfrm>
          <a:prstGeom prst="roundRect">
            <a:avLst>
              <a:gd name="adj" fmla="val 7282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4931" y="1446981"/>
            <a:ext cx="319088" cy="319088"/>
          </a:xfrm>
          <a:prstGeom prst="roundRect">
            <a:avLst>
              <a:gd name="adj" fmla="val 12318"/>
            </a:avLst>
          </a:prstGeom>
          <a:solidFill>
            <a:srgbClr val="2B7FFF">
              <a:alpha val="15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72" y="1524223"/>
            <a:ext cx="164529" cy="1645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56295" y="1446423"/>
            <a:ext cx="7134225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spcAft>
                <a:spcPts val="324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Vision API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56295" y="1719858"/>
            <a:ext cx="7134225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Extracts structured data from complex tables and numeric slabs that plain OCR would flatten — critical for TDS rate tables and loan slabs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7688" y="2414327"/>
            <a:ext cx="8048625" cy="876300"/>
          </a:xfrm>
          <a:prstGeom prst="roundRect">
            <a:avLst>
              <a:gd name="adj" fmla="val 10888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4931" y="2619821"/>
            <a:ext cx="319088" cy="319088"/>
          </a:xfrm>
          <a:prstGeom prst="roundRect">
            <a:avLst>
              <a:gd name="adj" fmla="val 12318"/>
            </a:avLst>
          </a:prstGeom>
          <a:solidFill>
            <a:srgbClr val="7C5CFF">
              <a:alpha val="15000"/>
            </a:srgbClr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72" y="2697063"/>
            <a:ext cx="164529" cy="16452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56854" y="2619263"/>
            <a:ext cx="3743325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spcAft>
                <a:spcPts val="324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File validation at the gate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256854" y="2894335"/>
            <a:ext cx="37433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MIME + extension checked before any expensive inference runs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7688" y="3395179"/>
            <a:ext cx="8048625" cy="876300"/>
          </a:xfrm>
          <a:prstGeom prst="roundRect">
            <a:avLst>
              <a:gd name="adj" fmla="val 10888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54931" y="3600673"/>
            <a:ext cx="319088" cy="319088"/>
          </a:xfrm>
          <a:prstGeom prst="roundRect">
            <a:avLst>
              <a:gd name="adj" fmla="val 12318"/>
            </a:avLst>
          </a:prstGeom>
          <a:solidFill>
            <a:srgbClr val="2B7FFF">
              <a:alpha val="15000"/>
            </a:srgbClr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72" y="3677915"/>
            <a:ext cx="164529" cy="16452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58342" y="3600115"/>
            <a:ext cx="7081837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spcAft>
                <a:spcPts val="324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15-key alias map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258342" y="3875187"/>
            <a:ext cx="7081837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Normalises inconsistent LLM JSON output into a strict Pydantic GraphAction schema; any mismatch raises immediately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7688" y="4374393"/>
            <a:ext cx="8048625" cy="1071563"/>
          </a:xfrm>
          <a:prstGeom prst="roundRect">
            <a:avLst>
              <a:gd name="adj" fmla="val 7282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54931" y="4581525"/>
            <a:ext cx="319088" cy="319088"/>
          </a:xfrm>
          <a:prstGeom prst="roundRect">
            <a:avLst>
              <a:gd name="adj" fmla="val 12318"/>
            </a:avLst>
          </a:prstGeom>
          <a:solidFill>
            <a:srgbClr val="7C5CFF">
              <a:alpha val="15000"/>
            </a:srgbClr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72" y="4658767"/>
            <a:ext cx="164529" cy="16452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56295" y="4580967"/>
            <a:ext cx="7134225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spcAft>
                <a:spcPts val="324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Fixed 10-category ontology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256295" y="4854401"/>
            <a:ext cx="7134225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Retail Loans, KYC/AML, Tax Compliance, Corporate Banking, Risk Management, Digital Payments UPI, Foreign Exchange FEMA, Priority Sector Lending, Credit Cards, Audit &amp; Inspection — prevents hallucinated classifications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25613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00" b="1" dirty="0">
                <a:solidFill>
                  <a:srgbClr val="2B7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7688" y="499542"/>
            <a:ext cx="8048625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98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Policy knowledge graph with full lineage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18" y="969392"/>
            <a:ext cx="388620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spcAft>
                <a:spcPts val="405"/>
              </a:spcAft>
              <a:buNone/>
            </a:pPr>
            <a:r>
              <a:rPr lang="en-US" sz="1200" b="1" dirty="0">
                <a:solidFill>
                  <a:srgbClr val="2B7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Graph structure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18" y="1344030"/>
            <a:ext cx="3886200" cy="928688"/>
          </a:xfrm>
          <a:prstGeom prst="roundRect">
            <a:avLst>
              <a:gd name="adj" fmla="val 7756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686" y="1514921"/>
            <a:ext cx="35480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203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Policy node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7686" y="1745456"/>
            <a:ext cx="3548062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Stores name, embedding, extracted rule, active status, access code, issue date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18" y="2348880"/>
            <a:ext cx="3886200" cy="747712"/>
          </a:xfrm>
          <a:prstGeom prst="roundRect">
            <a:avLst>
              <a:gd name="adj" fmla="val 11964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686" y="2518395"/>
            <a:ext cx="35480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203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:BELONGS_TO → Category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7686" y="2750307"/>
            <a:ext cx="354806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fixed ontology nodes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18" y="3174132"/>
            <a:ext cx="3886200" cy="747712"/>
          </a:xfrm>
          <a:prstGeom prst="roundRect">
            <a:avLst>
              <a:gd name="adj" fmla="val 11964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686" y="3343647"/>
            <a:ext cx="35480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203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:APPLIES_TO → CustomerType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7686" y="3575558"/>
            <a:ext cx="354806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NRI, MSME, Large Corp, etc.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18" y="3999384"/>
            <a:ext cx="3886200" cy="747712"/>
          </a:xfrm>
          <a:prstGeom prst="roundRect">
            <a:avLst>
              <a:gd name="adj" fmla="val 11964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686" y="4168899"/>
            <a:ext cx="35480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203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:REQUIRES → DocumentRequirement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7686" y="4400810"/>
            <a:ext cx="354806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Passport, Board Resolution, Salary Slip, etc.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82" y="4177606"/>
            <a:ext cx="3886200" cy="747712"/>
          </a:xfrm>
          <a:prstGeom prst="roundRect">
            <a:avLst>
              <a:gd name="adj" fmla="val 11964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8251" y="4346675"/>
            <a:ext cx="35480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203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:SUPERSEDES → old policy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78251" y="4577022"/>
            <a:ext cx="354806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Version lineage, no hard deletes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09182" y="969392"/>
            <a:ext cx="388620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spcAft>
                <a:spcPts val="405"/>
              </a:spcAft>
              <a:buNone/>
            </a:pPr>
            <a:r>
              <a:rPr lang="en-US" sz="1200" b="1" dirty="0">
                <a:solidFill>
                  <a:srgbClr val="7C5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82" y="1344030"/>
            <a:ext cx="3886200" cy="928688"/>
          </a:xfrm>
          <a:prstGeom prst="roundRect">
            <a:avLst>
              <a:gd name="adj" fmla="val 7756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8251" y="1514921"/>
            <a:ext cx="35480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203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Multi-hop resolution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78251" y="1745456"/>
            <a:ext cx="3548062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Answers compound questions like "what documents does an NRI need for a retail loan?"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82" y="2348880"/>
            <a:ext cx="3886200" cy="747712"/>
          </a:xfrm>
          <a:prstGeom prst="roundRect">
            <a:avLst>
              <a:gd name="adj" fmla="val 11964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8251" y="2518395"/>
            <a:ext cx="35480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203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Superseded policy preservation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8251" y="2750307"/>
            <a:ext cx="3548062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Preserved with active=false — full audit history without data loss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82" y="3172755"/>
            <a:ext cx="3886200" cy="928688"/>
          </a:xfrm>
          <a:prstGeom prst="roundRect">
            <a:avLst>
              <a:gd name="adj" fmla="val 7756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8251" y="3343647"/>
            <a:ext cx="3548062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203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Dual index stack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78251" y="3574182"/>
            <a:ext cx="3548062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384-dim cosine vector index + BM25 full-text index on name, rule, and source text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25613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00" b="1" dirty="0">
                <a:solidFill>
                  <a:srgbClr val="2B7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7688" y="499542"/>
            <a:ext cx="8048625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98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True hybrid retrieval with governance enforcement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621594" y="968648"/>
            <a:ext cx="5900738" cy="519112"/>
          </a:xfrm>
          <a:prstGeom prst="roundRect">
            <a:avLst>
              <a:gd name="adj" fmla="val 31028"/>
            </a:avLst>
          </a:prstGeom>
          <a:solidFill>
            <a:srgbClr val="131B2E">
              <a:alpha val="90000"/>
            </a:srgbClr>
          </a:solidFill>
          <a:ln w="4763">
            <a:solidFill>
              <a:srgbClr val="2B7FFF">
                <a:alpha val="30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76"/>
              </a:lnSpc>
              <a:buNone/>
            </a:pPr>
            <a:r>
              <a:rPr lang="en-US" sz="1500" b="1" dirty="0">
                <a:solidFill>
                  <a:srgbClr val="2B7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combined_score = vector_score + (BM25_score / 10.0)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7650" y="1743410"/>
            <a:ext cx="2562225" cy="3143250"/>
          </a:xfrm>
          <a:prstGeom prst="roundRect">
            <a:avLst>
              <a:gd name="adj" fmla="val 1274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625" y="1931789"/>
            <a:ext cx="319088" cy="319088"/>
          </a:xfrm>
          <a:prstGeom prst="roundRect">
            <a:avLst>
              <a:gd name="adj" fmla="val 12318"/>
            </a:avLst>
          </a:prstGeom>
          <a:solidFill>
            <a:srgbClr val="2B7FFF">
              <a:alpha val="15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67" y="2009031"/>
            <a:ext cx="164529" cy="1645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5769" y="2328304"/>
            <a:ext cx="2185988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buNone/>
            </a:pPr>
            <a:r>
              <a:rPr lang="en-US" sz="1200" b="1" dirty="0">
                <a:solidFill>
                  <a:srgbClr val="2B7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Vector search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5769" y="2638909"/>
            <a:ext cx="2185988" cy="8905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Captures semantic intent. paraphrase-multilingual-MiniLM-L12-v2, 384 dimensions, cosine similarity, asymmetric prefixing: "passage:" for documents, "query:" for user questions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90850" y="1743410"/>
            <a:ext cx="2562225" cy="3143250"/>
          </a:xfrm>
          <a:prstGeom prst="roundRect">
            <a:avLst>
              <a:gd name="adj" fmla="val 1274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9825" y="1931789"/>
            <a:ext cx="319088" cy="319088"/>
          </a:xfrm>
          <a:prstGeom prst="roundRect">
            <a:avLst>
              <a:gd name="adj" fmla="val 12318"/>
            </a:avLst>
          </a:prstGeom>
          <a:solidFill>
            <a:srgbClr val="7C5CFF">
              <a:alpha val="15000"/>
            </a:srgbClr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67" y="2009031"/>
            <a:ext cx="164529" cy="16452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8969" y="2328304"/>
            <a:ext cx="2185988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buNone/>
            </a:pPr>
            <a:r>
              <a:rPr lang="en-US" sz="1200" b="1" dirty="0">
                <a:solidFill>
                  <a:srgbClr val="7C5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BM25 full-text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78969" y="2637532"/>
            <a:ext cx="2185988" cy="10715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Captures exact keyword matches. Policy names, regulatory acronyms (TDS, KYC, AML), numeric identifiers. BM25 divided by 10 so it boosts precision without overriding semantic ranking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034050" y="1743410"/>
            <a:ext cx="2562225" cy="3143250"/>
          </a:xfrm>
          <a:prstGeom prst="roundRect">
            <a:avLst>
              <a:gd name="adj" fmla="val 1274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23025" y="1931789"/>
            <a:ext cx="319088" cy="319088"/>
          </a:xfrm>
          <a:prstGeom prst="roundRect">
            <a:avLst>
              <a:gd name="adj" fmla="val 12318"/>
            </a:avLst>
          </a:prstGeom>
          <a:solidFill>
            <a:srgbClr val="2B7FFF">
              <a:alpha val="15000"/>
            </a:srgbClr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67" y="2009031"/>
            <a:ext cx="164529" cy="16452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22169" y="2328304"/>
            <a:ext cx="2185988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buNone/>
            </a:pPr>
            <a:r>
              <a:rPr lang="en-US" sz="1200" b="1" dirty="0">
                <a:solidFill>
                  <a:srgbClr val="2B7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GLAC access control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22169" y="2637532"/>
            <a:ext cx="2185988" cy="10715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Enforced inside Cypher WHERE clause. Tier 1 Admin sees all policies. Tier 2 Operator and Tier 3 Viewer see only public access_code=2 policies. Restricted data never reaches the application layer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25613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00" b="1" dirty="0">
                <a:solidFill>
                  <a:srgbClr val="2B7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7688" y="499542"/>
            <a:ext cx="8048625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98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Three-tier confidence system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7650" y="970657"/>
            <a:ext cx="2562225" cy="3633787"/>
          </a:xfrm>
          <a:prstGeom prst="roundRect">
            <a:avLst>
              <a:gd name="adj" fmla="val 1274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625" y="1157808"/>
            <a:ext cx="319088" cy="319088"/>
          </a:xfrm>
          <a:prstGeom prst="roundRect">
            <a:avLst>
              <a:gd name="adj" fmla="val 12318"/>
            </a:avLst>
          </a:prstGeom>
          <a:solidFill>
            <a:srgbClr val="22C55E">
              <a:alpha val="15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67" y="1235050"/>
            <a:ext cx="164529" cy="1645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5769" y="1554324"/>
            <a:ext cx="2185988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Exact match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5769" y="1863923"/>
            <a:ext cx="2185988" cy="714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Answer is explicitly present in retrieved policy. Response: direct, fact-based answer with citations and confidence score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0850" y="970657"/>
            <a:ext cx="2562225" cy="3633787"/>
          </a:xfrm>
          <a:prstGeom prst="roundRect">
            <a:avLst>
              <a:gd name="adj" fmla="val 1274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EAB308">
                <a:alpha val="3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9825" y="1157808"/>
            <a:ext cx="319088" cy="319088"/>
          </a:xfrm>
          <a:prstGeom prst="roundRect">
            <a:avLst>
              <a:gd name="adj" fmla="val 12318"/>
            </a:avLst>
          </a:prstGeom>
          <a:solidFill>
            <a:srgbClr val="EAB308">
              <a:alpha val="15000"/>
            </a:srgbClr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67" y="1235050"/>
            <a:ext cx="164529" cy="1645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8969" y="1554324"/>
            <a:ext cx="2185988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buNone/>
            </a:pPr>
            <a:r>
              <a:rPr lang="en-US" sz="1200" b="1" dirty="0">
                <a:solidFill>
                  <a:srgbClr val="EAB30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Partial match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78969" y="1863551"/>
            <a:ext cx="2185988" cy="10715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 is semantically related but the exact fact is missing. Response: acknowledge the gap, provide related information, fire the relational critic to identify what is missing and suggest a sharper follow-up question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34050" y="970657"/>
            <a:ext cx="2562225" cy="3633787"/>
          </a:xfrm>
          <a:prstGeom prst="roundRect">
            <a:avLst>
              <a:gd name="adj" fmla="val 1274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23025" y="1157808"/>
            <a:ext cx="319088" cy="319088"/>
          </a:xfrm>
          <a:prstGeom prst="roundRect">
            <a:avLst>
              <a:gd name="adj" fmla="val 12318"/>
            </a:avLst>
          </a:prstGeom>
          <a:solidFill>
            <a:srgbClr val="EF4444">
              <a:alpha val="15000"/>
            </a:srgbClr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67" y="1235050"/>
            <a:ext cx="164529" cy="16452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22169" y="1554324"/>
            <a:ext cx="2185988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match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22169" y="1863923"/>
            <a:ext cx="2185988" cy="714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Retrieved context is completely irrelevant. Response: "I cannot find a verified policy for this in the current database." No hallucinated answer, ever.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47688" y="4760602"/>
            <a:ext cx="80486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Follow-up suggestions generated in parallel, validated against Neo4j, returned within a hard 2.5-second budget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25613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00" b="1" dirty="0">
                <a:solidFill>
                  <a:srgbClr val="2B7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7688" y="497830"/>
            <a:ext cx="8048625" cy="738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98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Multi-language support with regulatory term preservation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18" y="1337444"/>
            <a:ext cx="388620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spcAft>
                <a:spcPts val="405"/>
              </a:spcAft>
              <a:buNone/>
            </a:pPr>
            <a:r>
              <a:rPr lang="en-US" sz="1200" b="1" dirty="0">
                <a:solidFill>
                  <a:srgbClr val="2B7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Detection pipeline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7613" y="1908944"/>
            <a:ext cx="276225" cy="276225"/>
          </a:xfrm>
          <a:prstGeom prst="ellipse">
            <a:avLst/>
          </a:prstGeom>
          <a:solidFill>
            <a:srgbClr val="2B7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0A0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59123" y="1713719"/>
            <a:ext cx="3476625" cy="666750"/>
          </a:xfrm>
          <a:prstGeom prst="roundRect">
            <a:avLst>
              <a:gd name="adj" fmla="val 15047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1998" y="1855589"/>
            <a:ext cx="31908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FastText 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1998" y="2061828"/>
            <a:ext cx="31908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— requires ≥50% confidence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7613" y="2742902"/>
            <a:ext cx="276225" cy="276225"/>
          </a:xfrm>
          <a:prstGeom prst="ellipse">
            <a:avLst/>
          </a:prstGeom>
          <a:solidFill>
            <a:srgbClr val="7C5C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0A0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59123" y="2457152"/>
            <a:ext cx="3476625" cy="847725"/>
          </a:xfrm>
          <a:prstGeom prst="roundRect">
            <a:avLst>
              <a:gd name="adj" fmla="val 9308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1998" y="2600399"/>
            <a:ext cx="31908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langdetect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1998" y="2805261"/>
            <a:ext cx="3190875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Fallback — if FastText confidence is too low or model unavailable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7613" y="3576786"/>
            <a:ext cx="276225" cy="276225"/>
          </a:xfrm>
          <a:prstGeom prst="ellipse">
            <a:avLst/>
          </a:prstGeom>
          <a:solidFill>
            <a:srgbClr val="2B7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0A0F1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59123" y="3381561"/>
            <a:ext cx="3476625" cy="666750"/>
          </a:xfrm>
          <a:prstGeom prst="roundRect">
            <a:avLst>
              <a:gd name="adj" fmla="val 15047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1998" y="3523431"/>
            <a:ext cx="31908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English default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1998" y="3729670"/>
            <a:ext cx="319087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Final safe fallback, no exceptions thrown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7688" y="4812023"/>
            <a:ext cx="80486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Regulatory acronyms TDS, KYC, AML, UPI are always preserved in English regardless of response language — they carry legal meaning in that form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25613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00" b="1" dirty="0">
                <a:solidFill>
                  <a:srgbClr val="2B7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7688" y="499542"/>
            <a:ext cx="8048625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98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compliance audit trail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566714" y="970136"/>
            <a:ext cx="3162300" cy="790575"/>
          </a:xfrm>
          <a:prstGeom prst="roundRect">
            <a:avLst>
              <a:gd name="adj" fmla="val 10702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74045" y="1111672"/>
            <a:ext cx="147637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7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09589" y="1453530"/>
            <a:ext cx="287655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Last messages injected as conversation context per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866940" y="970136"/>
            <a:ext cx="2709863" cy="790575"/>
          </a:xfrm>
          <a:prstGeom prst="roundRect">
            <a:avLst>
              <a:gd name="adj" fmla="val 10702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3753" y="1111672"/>
            <a:ext cx="376238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7C5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1μs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07434" y="1453530"/>
            <a:ext cx="24288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Timestamp offset guarantees message ordering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740061" y="1898600"/>
            <a:ext cx="2724150" cy="790575"/>
          </a:xfrm>
          <a:prstGeom prst="roundRect">
            <a:avLst>
              <a:gd name="adj" fmla="val 10702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16386" y="2040136"/>
            <a:ext cx="571500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B7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80555" y="2381994"/>
            <a:ext cx="244316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turns saved with tier, citations, and reasoning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03552" y="1898600"/>
            <a:ext cx="2800350" cy="790575"/>
          </a:xfrm>
          <a:prstGeom prst="roundRect">
            <a:avLst>
              <a:gd name="adj" fmla="val 10702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5127" y="2040136"/>
            <a:ext cx="457200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7C5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44045" y="2381994"/>
            <a:ext cx="2519362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Scores stored for deterministic confidence replay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18" y="2792276"/>
            <a:ext cx="3886200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spcAft>
                <a:spcPts val="203"/>
              </a:spcAft>
              <a:buNone/>
            </a:pPr>
            <a:r>
              <a:rPr lang="en-US" sz="1200" b="1" dirty="0">
                <a:solidFill>
                  <a:srgbClr val="2B7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stored per turn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18" y="3113745"/>
            <a:ext cx="3886200" cy="852488"/>
          </a:xfrm>
          <a:prstGeom prst="roundRect">
            <a:avLst>
              <a:gd name="adj" fmla="val 9204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493" y="3254239"/>
            <a:ext cx="3600450" cy="571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 (user/assistant), timestamp, user_tier, retrieval_tier, raw citation scores, document names, categories, Sentinel reasoning explanation, enhanced prompt if applicable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9182" y="2792276"/>
            <a:ext cx="3886200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6"/>
              </a:lnSpc>
              <a:spcAft>
                <a:spcPts val="203"/>
              </a:spcAft>
              <a:buNone/>
            </a:pPr>
            <a:r>
              <a:rPr lang="en-US" sz="1200" b="1" dirty="0">
                <a:solidFill>
                  <a:srgbClr val="7C5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Compliance capabilities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82" y="3113373"/>
            <a:ext cx="3886200" cy="1233488"/>
          </a:xfrm>
          <a:prstGeom prst="roundRect">
            <a:avLst>
              <a:gd name="adj" fmla="val 4396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2057" y="3253867"/>
            <a:ext cx="3600450" cy="952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8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history replayable for regulatory review. Confidence percentages recalculated from raw scores on fetch (replay-safe even if formula changes). user_tier enforced on session fetch so analysts cannot read each other's history. Every retrieval tagged for access control audit.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25613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00" b="1" dirty="0">
                <a:solidFill>
                  <a:srgbClr val="2B7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ENTERPRISE RESILIENCE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7688" y="499542"/>
            <a:ext cx="8048625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98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Graceful degradation at every layer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9548" y="1633240"/>
            <a:ext cx="3952875" cy="695325"/>
          </a:xfrm>
          <a:prstGeom prst="roundRect">
            <a:avLst>
              <a:gd name="adj" fmla="val 13835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72" y="1802606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EF4444">
              <a:alpha val="15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16" y="1857449"/>
            <a:ext cx="118839" cy="1188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3580" y="1803350"/>
            <a:ext cx="25431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Embedding service down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83580" y="1993553"/>
            <a:ext cx="25431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 503 returned explicitly, no silent null fallback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641540" y="1633240"/>
            <a:ext cx="3952875" cy="695325"/>
          </a:xfrm>
          <a:prstGeom prst="roundRect">
            <a:avLst>
              <a:gd name="adj" fmla="val 13835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09827" y="1802606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EAB308">
              <a:alpha val="15000"/>
            </a:srgbClr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71" y="1857449"/>
            <a:ext cx="118839" cy="1188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6689" y="1803350"/>
            <a:ext cx="2147887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Full-text index missing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176689" y="1993553"/>
            <a:ext cx="2147887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Retrieval continues on vector search alone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49548" y="2465561"/>
            <a:ext cx="3952875" cy="695325"/>
          </a:xfrm>
          <a:prstGeom prst="roundRect">
            <a:avLst>
              <a:gd name="adj" fmla="val 13835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7872" y="2634928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2B7FFF">
              <a:alpha val="15000"/>
            </a:srgbClr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716" y="2689771"/>
            <a:ext cx="118839" cy="1188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82613" y="2635672"/>
            <a:ext cx="2014538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FastText model unavailable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082613" y="2825874"/>
            <a:ext cx="2014538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langdetect fallback, then English default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641540" y="2465561"/>
            <a:ext cx="3952875" cy="695325"/>
          </a:xfrm>
          <a:prstGeom prst="roundRect">
            <a:avLst>
              <a:gd name="adj" fmla="val 13835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09827" y="2634928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7C5CFF">
              <a:alpha val="15000"/>
            </a:srgbClr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71" y="2689771"/>
            <a:ext cx="118839" cy="11883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74977" y="2635672"/>
            <a:ext cx="23717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Neo4j audit write fails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174977" y="2825874"/>
            <a:ext cx="23717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still receives their answer, failure is logged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549548" y="3297882"/>
            <a:ext cx="3952875" cy="695325"/>
          </a:xfrm>
          <a:prstGeom prst="roundRect">
            <a:avLst>
              <a:gd name="adj" fmla="val 13835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17872" y="3467249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2B7FFF">
              <a:alpha val="15000"/>
            </a:srgbClr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716" y="3522092"/>
            <a:ext cx="118839" cy="11883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84027" y="3467993"/>
            <a:ext cx="30099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Groq rate limit (429)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084027" y="3658195"/>
            <a:ext cx="3009900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User-facing message returned, not an unhandled exception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4641540" y="3297882"/>
            <a:ext cx="3952875" cy="695325"/>
          </a:xfrm>
          <a:prstGeom prst="roundRect">
            <a:avLst>
              <a:gd name="adj" fmla="val 13835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809827" y="3467249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7C5CFF">
              <a:alpha val="15000"/>
            </a:srgbClr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71" y="3522092"/>
            <a:ext cx="118839" cy="11883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176726" y="3467993"/>
            <a:ext cx="23907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LLM / driver / embeddings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176726" y="3658195"/>
            <a:ext cx="239077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Lazy singleton initialisation, no startup coupling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547688" y="4812023"/>
            <a:ext cx="8048625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singletons initialised on first request — service starts fast even if downstream dependencies are slow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25613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00" b="1" dirty="0">
                <a:solidFill>
                  <a:srgbClr val="2B7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7688" y="499542"/>
            <a:ext cx="8048625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98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Latency profile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2420" y="1793230"/>
            <a:ext cx="20097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12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 detection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556" y="1812243"/>
            <a:ext cx="4205288" cy="152400"/>
          </a:xfrm>
          <a:prstGeom prst="roundRect">
            <a:avLst>
              <a:gd name="adj" fmla="val 36000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9533" y="1817005"/>
            <a:ext cx="338137" cy="142875"/>
          </a:xfrm>
          <a:prstGeom prst="roundRect">
            <a:avLst>
              <a:gd name="adj" fmla="val 40960"/>
            </a:avLst>
          </a:prstGeom>
          <a:solidFill>
            <a:srgbClr val="2B7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6205" y="1786086"/>
            <a:ext cx="10953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B7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10–50ms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2420" y="2127498"/>
            <a:ext cx="20097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12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 embedding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556" y="2146511"/>
            <a:ext cx="4205288" cy="152400"/>
          </a:xfrm>
          <a:prstGeom prst="roundRect">
            <a:avLst>
              <a:gd name="adj" fmla="val 36000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31468" y="2151273"/>
            <a:ext cx="1047750" cy="142875"/>
          </a:xfrm>
          <a:prstGeom prst="roundRect">
            <a:avLst>
              <a:gd name="adj" fmla="val 40960"/>
            </a:avLst>
          </a:prstGeom>
          <a:solidFill>
            <a:srgbClr val="7C5C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6205" y="2120354"/>
            <a:ext cx="10953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7C5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100–500ms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2420" y="2461766"/>
            <a:ext cx="20097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12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Hybrid retrieval (Neo4j)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556" y="2480779"/>
            <a:ext cx="4205288" cy="152400"/>
          </a:xfrm>
          <a:prstGeom prst="roundRect">
            <a:avLst>
              <a:gd name="adj" fmla="val 36000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9830" y="2485541"/>
            <a:ext cx="757238" cy="142875"/>
          </a:xfrm>
          <a:prstGeom prst="roundRect">
            <a:avLst>
              <a:gd name="adj" fmla="val 40960"/>
            </a:avLst>
          </a:prstGeom>
          <a:solidFill>
            <a:srgbClr val="2B7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6205" y="2454622"/>
            <a:ext cx="10953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B7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50–200ms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2420" y="2796034"/>
            <a:ext cx="20097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12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history fetch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556" y="2815047"/>
            <a:ext cx="4205288" cy="152400"/>
          </a:xfrm>
          <a:prstGeom prst="roundRect">
            <a:avLst>
              <a:gd name="adj" fmla="val 36000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9533" y="2819809"/>
            <a:ext cx="338137" cy="142875"/>
          </a:xfrm>
          <a:prstGeom prst="roundRect">
            <a:avLst>
              <a:gd name="adj" fmla="val 40960"/>
            </a:avLst>
          </a:prstGeom>
          <a:solidFill>
            <a:srgbClr val="7C5C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6205" y="2788890"/>
            <a:ext cx="10953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7C5C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10–50ms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2420" y="3130302"/>
            <a:ext cx="20097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12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generation (Groq)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556" y="3149315"/>
            <a:ext cx="4205288" cy="152400"/>
          </a:xfrm>
          <a:prstGeom prst="roundRect">
            <a:avLst>
              <a:gd name="adj" fmla="val 36000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30426" y="3154077"/>
            <a:ext cx="2938463" cy="142875"/>
          </a:xfrm>
          <a:prstGeom prst="roundRect">
            <a:avLst>
              <a:gd name="adj" fmla="val 40960"/>
            </a:avLst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6205" y="3123158"/>
            <a:ext cx="10953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EF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2–10s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2420" y="3464570"/>
            <a:ext cx="200977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12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end-to-end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26556" y="3483583"/>
            <a:ext cx="4205288" cy="152400"/>
          </a:xfrm>
          <a:prstGeom prst="roundRect">
            <a:avLst>
              <a:gd name="adj" fmla="val 36000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30872" y="3488345"/>
            <a:ext cx="3567113" cy="142875"/>
          </a:xfrm>
          <a:prstGeom prst="roundRect">
            <a:avLst>
              <a:gd name="adj" fmla="val 40960"/>
            </a:avLst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7316205" y="3457426"/>
            <a:ext cx="109537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00" b="1" dirty="0">
                <a:solidFill>
                  <a:srgbClr val="22C5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3–12s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7688" y="4632424"/>
            <a:ext cx="8048625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inference dominates total latency. All other components complete in under 500ms. Follow-up suggestion generation runs in a parallel thread pool and does not add to the critical path.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25613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00" b="1" dirty="0">
                <a:solidFill>
                  <a:srgbClr val="2B7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SURFACE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7688" y="499542"/>
            <a:ext cx="8048625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98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Production-ready API endpoints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7650" y="969987"/>
            <a:ext cx="3933825" cy="1947862"/>
          </a:xfrm>
          <a:prstGeom prst="roundRect">
            <a:avLst>
              <a:gd name="adj" fmla="val 2204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5266" y="1196727"/>
            <a:ext cx="461962" cy="204787"/>
          </a:xfrm>
          <a:prstGeom prst="roundRect">
            <a:avLst>
              <a:gd name="adj" fmla="val 19937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2C5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309092" y="1175296"/>
            <a:ext cx="423862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/chat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4819" y="1500411"/>
            <a:ext cx="3519487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Conversational Q&amp;A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4819" y="1820503"/>
            <a:ext cx="3519487" cy="738188"/>
          </a:xfrm>
          <a:prstGeom prst="roundRect">
            <a:avLst>
              <a:gd name="adj" fmla="val 9206"/>
            </a:avLst>
          </a:prstGeom>
          <a:solidFill>
            <a:srgbClr val="0A0F1E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64357" y="1928812"/>
            <a:ext cx="33004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Input: session_id, user_question, employee_id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64357" y="2120429"/>
            <a:ext cx="3300413" cy="3286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Bef>
                <a:spcPts val="203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Output: answer, citations with confidence scores, retrieval_tier, sentinel_reasoning, follow-up suggestions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2488" y="969987"/>
            <a:ext cx="3933825" cy="1947862"/>
          </a:xfrm>
          <a:prstGeom prst="roundRect">
            <a:avLst>
              <a:gd name="adj" fmla="val 2204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0066" y="1196727"/>
            <a:ext cx="461962" cy="204787"/>
          </a:xfrm>
          <a:prstGeom prst="roundRect">
            <a:avLst>
              <a:gd name="adj" fmla="val 19937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2C5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24636" y="1175296"/>
            <a:ext cx="57150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/ingest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9656" y="1500411"/>
            <a:ext cx="3519487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 upload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69656" y="1819163"/>
            <a:ext cx="3519487" cy="576262"/>
          </a:xfrm>
          <a:prstGeom prst="roundRect">
            <a:avLst>
              <a:gd name="adj" fmla="val 15107"/>
            </a:avLst>
          </a:prstGeom>
          <a:solidFill>
            <a:srgbClr val="0A0F1E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79194" y="1928812"/>
            <a:ext cx="33004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Input: PDF or image file, employee_id, access_code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79194" y="2119089"/>
            <a:ext cx="33004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Bef>
                <a:spcPts val="203"/>
              </a:spcBef>
              <a:buNone/>
            </a:pPr>
            <a:r>
              <a:rPr lang="en-US" sz="8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Output: extracted rule, document name, ingestion confirmation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7650" y="3100648"/>
            <a:ext cx="3933825" cy="1785938"/>
          </a:xfrm>
          <a:prstGeom prst="roundRect">
            <a:avLst>
              <a:gd name="adj" fmla="val 2621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484" y="3327871"/>
            <a:ext cx="395287" cy="204787"/>
          </a:xfrm>
          <a:prstGeom prst="roundRect">
            <a:avLst>
              <a:gd name="adj" fmla="val 19937"/>
            </a:avLst>
          </a:prstGeom>
          <a:solidFill>
            <a:srgbClr val="2B7FFF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B7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41264" y="3306440"/>
            <a:ext cx="747712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/sessions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4819" y="3629918"/>
            <a:ext cx="3519487" cy="3857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 management and full history retrieval for compliance review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4819" y="4142408"/>
            <a:ext cx="3519487" cy="385763"/>
          </a:xfrm>
          <a:prstGeom prst="roundRect">
            <a:avLst>
              <a:gd name="adj" fmla="val 8428"/>
            </a:avLst>
          </a:prstGeom>
          <a:solidFill>
            <a:srgbClr val="0A0F1E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64357" y="4251945"/>
            <a:ext cx="33004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Also: /sessions/{id}/messages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2488" y="3100648"/>
            <a:ext cx="3933825" cy="1785938"/>
          </a:xfrm>
          <a:prstGeom prst="roundRect">
            <a:avLst>
              <a:gd name="adj" fmla="val 2621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0066" y="3327871"/>
            <a:ext cx="461962" cy="204787"/>
          </a:xfrm>
          <a:prstGeom prst="roundRect">
            <a:avLst>
              <a:gd name="adj" fmla="val 19937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b="1" dirty="0">
                <a:solidFill>
                  <a:srgbClr val="22C55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24004" y="3306440"/>
            <a:ext cx="747712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/enhance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9656" y="3631555"/>
            <a:ext cx="3519487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Optional edge-side prompt expansion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69656" y="3950419"/>
            <a:ext cx="3519487" cy="385763"/>
          </a:xfrm>
          <a:prstGeom prst="roundRect">
            <a:avLst>
              <a:gd name="adj" fmla="val 8428"/>
            </a:avLst>
          </a:prstGeom>
          <a:solidFill>
            <a:srgbClr val="0A0F1E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979194" y="4059957"/>
            <a:ext cx="3300413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Via HuggingFace router for ambiguous or short queries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7688" y="256133"/>
            <a:ext cx="8048625" cy="1666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96"/>
              </a:lnSpc>
              <a:spcAft>
                <a:spcPts val="607"/>
              </a:spcAft>
              <a:buNone/>
            </a:pPr>
            <a:r>
              <a:rPr lang="en-US" sz="800" b="1" dirty="0">
                <a:solidFill>
                  <a:srgbClr val="2B7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7688" y="499542"/>
            <a:ext cx="8048625" cy="3667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98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for regulated enterprises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7650" y="1020217"/>
            <a:ext cx="2562225" cy="1843088"/>
          </a:xfrm>
          <a:prstGeom prst="roundRect">
            <a:avLst>
              <a:gd name="adj" fmla="val 2461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5211" y="1207815"/>
            <a:ext cx="276225" cy="276225"/>
          </a:xfrm>
          <a:prstGeom prst="roundRect">
            <a:avLst>
              <a:gd name="adj" fmla="val 16438"/>
            </a:avLst>
          </a:prstGeom>
          <a:solidFill>
            <a:srgbClr val="2B7FFF">
              <a:alpha val="15000"/>
            </a:srgbClr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14" y="1277317"/>
            <a:ext cx="137145" cy="1371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5769" y="1534678"/>
            <a:ext cx="2185988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Deterministic responses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5769" y="1804987"/>
            <a:ext cx="2185988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question + same policies always produces the same answer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0850" y="1020217"/>
            <a:ext cx="2562225" cy="1843088"/>
          </a:xfrm>
          <a:prstGeom prst="roundRect">
            <a:avLst>
              <a:gd name="adj" fmla="val 2461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8411" y="1207815"/>
            <a:ext cx="276225" cy="276225"/>
          </a:xfrm>
          <a:prstGeom prst="roundRect">
            <a:avLst>
              <a:gd name="adj" fmla="val 16438"/>
            </a:avLst>
          </a:prstGeom>
          <a:solidFill>
            <a:srgbClr val="7C5CFF">
              <a:alpha val="15000"/>
            </a:srgbClr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914" y="1277317"/>
            <a:ext cx="137145" cy="13714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8969" y="1534678"/>
            <a:ext cx="2185988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Evidence traceability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78969" y="1804987"/>
            <a:ext cx="2185988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answer linked to source policy document and confidence score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34050" y="1020217"/>
            <a:ext cx="2562225" cy="1843088"/>
          </a:xfrm>
          <a:prstGeom prst="roundRect">
            <a:avLst>
              <a:gd name="adj" fmla="val 2461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21611" y="1207815"/>
            <a:ext cx="276225" cy="276225"/>
          </a:xfrm>
          <a:prstGeom prst="roundRect">
            <a:avLst>
              <a:gd name="adj" fmla="val 16438"/>
            </a:avLst>
          </a:prstGeom>
          <a:solidFill>
            <a:srgbClr val="2B7FFF">
              <a:alpha val="15000"/>
            </a:srgbClr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114" y="1277317"/>
            <a:ext cx="137145" cy="13714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22169" y="1534678"/>
            <a:ext cx="2185988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Version governance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22169" y="1805992"/>
            <a:ext cx="2185988" cy="533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Policy supersession tracked explicitly with :SUPERSEDES edges, no silent updates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47650" y="3044205"/>
            <a:ext cx="2562225" cy="1843088"/>
          </a:xfrm>
          <a:prstGeom prst="roundRect">
            <a:avLst>
              <a:gd name="adj" fmla="val 2461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5211" y="3231803"/>
            <a:ext cx="276225" cy="276225"/>
          </a:xfrm>
          <a:prstGeom prst="roundRect">
            <a:avLst>
              <a:gd name="adj" fmla="val 16438"/>
            </a:avLst>
          </a:prstGeom>
          <a:solidFill>
            <a:srgbClr val="7C5CFF">
              <a:alpha val="15000"/>
            </a:srgbClr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714" y="3301305"/>
            <a:ext cx="137145" cy="13714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5769" y="3558667"/>
            <a:ext cx="2185988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Access control audit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35769" y="3828976"/>
            <a:ext cx="2185988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retrieval tagged with user_tier for compliance replay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290850" y="3044205"/>
            <a:ext cx="2562225" cy="1843088"/>
          </a:xfrm>
          <a:prstGeom prst="roundRect">
            <a:avLst>
              <a:gd name="adj" fmla="val 2461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2B7FFF">
                <a:alpha val="2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478411" y="3231803"/>
            <a:ext cx="276225" cy="276225"/>
          </a:xfrm>
          <a:prstGeom prst="roundRect">
            <a:avLst>
              <a:gd name="adj" fmla="val 16438"/>
            </a:avLst>
          </a:prstGeom>
          <a:solidFill>
            <a:srgbClr val="2B7FFF">
              <a:alpha val="15000"/>
            </a:srgbClr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914" y="3301305"/>
            <a:ext cx="137145" cy="13714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478969" y="3558667"/>
            <a:ext cx="2185988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Hallucination prevention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478969" y="3828976"/>
            <a:ext cx="2185988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 prompt constraint "Use ONLY the provided active_context"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034050" y="3044205"/>
            <a:ext cx="2562225" cy="1843088"/>
          </a:xfrm>
          <a:prstGeom prst="roundRect">
            <a:avLst>
              <a:gd name="adj" fmla="val 2461"/>
            </a:avLst>
          </a:prstGeom>
          <a:solidFill>
            <a:srgbClr val="131B2E">
              <a:alpha val="80000"/>
            </a:srgbClr>
          </a:solidFill>
          <a:ln w="4763">
            <a:solidFill>
              <a:srgbClr val="7C5CFF">
                <a:alpha val="2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221611" y="3231803"/>
            <a:ext cx="276225" cy="276225"/>
          </a:xfrm>
          <a:prstGeom prst="roundRect">
            <a:avLst>
              <a:gd name="adj" fmla="val 16438"/>
            </a:avLst>
          </a:prstGeom>
          <a:solidFill>
            <a:srgbClr val="7C5CFF">
              <a:alpha val="15000"/>
            </a:srgbClr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114" y="3301305"/>
            <a:ext cx="137145" cy="13714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22169" y="3558667"/>
            <a:ext cx="2185988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silent failures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222169" y="3828976"/>
            <a:ext cx="2185988" cy="3571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4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errors, fallbacks, and degradations are logged explicitly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1203</Words>
  <Application>Microsoft Office PowerPoint</Application>
  <PresentationFormat>On-screen Show (16:9)</PresentationFormat>
  <Paragraphs>184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DM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Mohan Chandaka</cp:lastModifiedBy>
  <cp:revision>2</cp:revision>
  <dcterms:created xsi:type="dcterms:W3CDTF">2026-05-11T01:51:54Z</dcterms:created>
  <dcterms:modified xsi:type="dcterms:W3CDTF">2026-05-11T04:12:27Z</dcterms:modified>
</cp:coreProperties>
</file>